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BM Plex Mono Bold" charset="1" panose="020B0809050203000203"/>
      <p:regular r:id="rId18"/>
    </p:embeddedFont>
    <p:embeddedFont>
      <p:font typeface="Montserrat Bold" charset="1" panose="00000800000000000000"/>
      <p:regular r:id="rId19"/>
    </p:embeddedFont>
    <p:embeddedFont>
      <p:font typeface="DM Sans" charset="1" panose="00000000000000000000"/>
      <p:regular r:id="rId20"/>
    </p:embeddedFont>
    <p:embeddedFont>
      <p:font typeface="DM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67750" y="0"/>
            <a:ext cx="9620250" cy="10287000"/>
          </a:xfrm>
          <a:custGeom>
            <a:avLst/>
            <a:gdLst/>
            <a:ahLst/>
            <a:cxnLst/>
            <a:rect r="r" b="b" t="t" l="l"/>
            <a:pathLst>
              <a:path h="10287000" w="9620250">
                <a:moveTo>
                  <a:pt x="0" y="0"/>
                </a:moveTo>
                <a:lnTo>
                  <a:pt x="9620250" y="0"/>
                </a:lnTo>
                <a:lnTo>
                  <a:pt x="9620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" r="0" b="-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810500" y="0"/>
            <a:ext cx="10477500" cy="10287000"/>
            <a:chOff x="0" y="0"/>
            <a:chExt cx="1397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970000">
                  <a:moveTo>
                    <a:pt x="0" y="0"/>
                  </a:moveTo>
                  <a:lnTo>
                    <a:pt x="13970000" y="0"/>
                  </a:lnTo>
                  <a:lnTo>
                    <a:pt x="1397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11F">
                    <a:alpha val="100000"/>
                  </a:srgbClr>
                </a:gs>
                <a:gs pos="35000">
                  <a:srgbClr val="07111F">
                    <a:alpha val="55000"/>
                  </a:srgbClr>
                </a:gs>
                <a:gs pos="100000">
                  <a:srgbClr val="07111F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7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90600" y="1171575"/>
            <a:ext cx="5334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49D7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DECISION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219325"/>
            <a:ext cx="9906000" cy="106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4"/>
              </a:lnSpc>
            </a:pPr>
            <a:r>
              <a:rPr lang="en-US" sz="780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ASSUMPTION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3486150"/>
            <a:ext cx="9334500" cy="110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Decision Intelligence Through</a:t>
            </a:r>
          </a:p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Persistent Organizational Memory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00" y="6143625"/>
            <a:ext cx="733425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Turning organizational experience into reusable decision intelligence.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" y="9020175"/>
            <a:ext cx="666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9EB0C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HACKATHON PITCH  /  SYSTEM CONCEPT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D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00050"/>
            <a:ext cx="14287500" cy="1733550"/>
            <a:chOff x="0" y="0"/>
            <a:chExt cx="19050000" cy="2311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25425"/>
              <a:ext cx="330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49D7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 / THE PROBLEM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46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Organizations forget why decisions were made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92300"/>
              <a:ext cx="19050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The decision remains. The reasoning quietly disappears.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914400" cy="63500"/>
              <a:chOff x="0" y="0"/>
              <a:chExt cx="914400" cy="63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49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990600" y="4095750"/>
            <a:ext cx="3143250" cy="1809750"/>
            <a:chOff x="0" y="0"/>
            <a:chExt cx="4191000" cy="241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91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343727"/>
                  </a:lnTo>
                  <a:cubicBezTo>
                    <a:pt x="4191000" y="2362100"/>
                    <a:pt x="4183702" y="2379719"/>
                    <a:pt x="4170711" y="2392711"/>
                  </a:cubicBezTo>
                  <a:cubicBezTo>
                    <a:pt x="4157719" y="2405702"/>
                    <a:pt x="4140100" y="2413000"/>
                    <a:pt x="4121727" y="2413000"/>
                  </a:cubicBezTo>
                  <a:lnTo>
                    <a:pt x="69273" y="2413000"/>
                  </a:lnTo>
                  <a:cubicBezTo>
                    <a:pt x="50900" y="2413000"/>
                    <a:pt x="33281" y="2405702"/>
                    <a:pt x="20290" y="2392711"/>
                  </a:cubicBezTo>
                  <a:cubicBezTo>
                    <a:pt x="7298" y="2379719"/>
                    <a:pt x="0" y="2362100"/>
                    <a:pt x="0" y="2343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4191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ASSUMPTIONS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shape a decision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133850" y="5000625"/>
            <a:ext cx="647700" cy="0"/>
          </a:xfrm>
          <a:prstGeom prst="line">
            <a:avLst/>
          </a:prstGeom>
          <a:ln cap="rnd" w="28575">
            <a:solidFill>
              <a:srgbClr val="2941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5048250" y="4095750"/>
            <a:ext cx="3143250" cy="1809750"/>
            <a:chOff x="0" y="0"/>
            <a:chExt cx="4191000" cy="241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1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343727"/>
                  </a:lnTo>
                  <a:cubicBezTo>
                    <a:pt x="4191000" y="2362100"/>
                    <a:pt x="4183702" y="2379719"/>
                    <a:pt x="4170711" y="2392711"/>
                  </a:cubicBezTo>
                  <a:cubicBezTo>
                    <a:pt x="4157719" y="2405702"/>
                    <a:pt x="4140100" y="2413000"/>
                    <a:pt x="4121727" y="2413000"/>
                  </a:cubicBezTo>
                  <a:lnTo>
                    <a:pt x="69273" y="2413000"/>
                  </a:lnTo>
                  <a:cubicBezTo>
                    <a:pt x="50900" y="2413000"/>
                    <a:pt x="33281" y="2405702"/>
                    <a:pt x="20290" y="2392711"/>
                  </a:cubicBezTo>
                  <a:cubicBezTo>
                    <a:pt x="7298" y="2379719"/>
                    <a:pt x="0" y="2362100"/>
                    <a:pt x="0" y="2343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4191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EMPLOYEES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&amp; ownership change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8191500" y="5000625"/>
            <a:ext cx="647700" cy="0"/>
          </a:xfrm>
          <a:prstGeom prst="line">
            <a:avLst/>
          </a:prstGeom>
          <a:ln cap="rnd" w="28575">
            <a:solidFill>
              <a:srgbClr val="2941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9105900" y="4095750"/>
            <a:ext cx="3143250" cy="1809750"/>
            <a:chOff x="0" y="0"/>
            <a:chExt cx="4191000" cy="241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91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343727"/>
                  </a:lnTo>
                  <a:cubicBezTo>
                    <a:pt x="4191000" y="2362100"/>
                    <a:pt x="4183702" y="2379719"/>
                    <a:pt x="4170711" y="2392711"/>
                  </a:cubicBezTo>
                  <a:cubicBezTo>
                    <a:pt x="4157719" y="2405702"/>
                    <a:pt x="4140100" y="2413000"/>
                    <a:pt x="4121727" y="2413000"/>
                  </a:cubicBezTo>
                  <a:lnTo>
                    <a:pt x="69273" y="2413000"/>
                  </a:lnTo>
                  <a:cubicBezTo>
                    <a:pt x="50900" y="2413000"/>
                    <a:pt x="33281" y="2405702"/>
                    <a:pt x="20290" y="2392711"/>
                  </a:cubicBezTo>
                  <a:cubicBezTo>
                    <a:pt x="7298" y="2379719"/>
                    <a:pt x="0" y="2362100"/>
                    <a:pt x="0" y="2343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4191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CONTEXT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fades over time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2249150" y="5000625"/>
            <a:ext cx="647700" cy="0"/>
          </a:xfrm>
          <a:prstGeom prst="line">
            <a:avLst/>
          </a:prstGeom>
          <a:ln cap="rnd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3163550" y="4095750"/>
            <a:ext cx="3143250" cy="1809750"/>
            <a:chOff x="0" y="0"/>
            <a:chExt cx="4191000" cy="2413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91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343727"/>
                  </a:lnTo>
                  <a:cubicBezTo>
                    <a:pt x="4191000" y="2362100"/>
                    <a:pt x="4183702" y="2379719"/>
                    <a:pt x="4170711" y="2392711"/>
                  </a:cubicBezTo>
                  <a:cubicBezTo>
                    <a:pt x="4157719" y="2405702"/>
                    <a:pt x="4140100" y="2413000"/>
                    <a:pt x="4121727" y="2413000"/>
                  </a:cubicBezTo>
                  <a:lnTo>
                    <a:pt x="69273" y="2413000"/>
                  </a:lnTo>
                  <a:cubicBezTo>
                    <a:pt x="50900" y="2413000"/>
                    <a:pt x="33281" y="2405702"/>
                    <a:pt x="20290" y="2392711"/>
                  </a:cubicBezTo>
                  <a:cubicBezTo>
                    <a:pt x="7298" y="2379719"/>
                    <a:pt x="0" y="2362100"/>
                    <a:pt x="0" y="2343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73451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4191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SIMILAR MISTAKES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can repeat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90600" y="330517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49D7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INSTITUTIONAL-MEMORY GAP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00500" y="7248525"/>
            <a:ext cx="10287000" cy="35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475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When rationale is not retained, experience cannot compound.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00050"/>
            <a:ext cx="14287500" cy="1733550"/>
            <a:chOff x="0" y="0"/>
            <a:chExt cx="19050000" cy="2311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25425"/>
              <a:ext cx="3302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14" b="true">
                  <a:solidFill>
                    <a:srgbClr val="49D7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 / FAILURE PATTERN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46150"/>
              <a:ext cx="19050000" cy="761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 simple assumption becomes a future constraint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92300"/>
              <a:ext cx="19050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The original choice can be rational—until operating conditions change.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914400" cy="63500"/>
              <a:chOff x="0" y="0"/>
              <a:chExt cx="914400" cy="63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49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AutoShape 9" id="9"/>
          <p:cNvSpPr/>
          <p:nvPr/>
        </p:nvSpPr>
        <p:spPr>
          <a:xfrm>
            <a:off x="1714500" y="5286375"/>
            <a:ext cx="14859000" cy="0"/>
          </a:xfrm>
          <a:prstGeom prst="line">
            <a:avLst/>
          </a:prstGeom>
          <a:ln cap="rnd" w="38100">
            <a:solidFill>
              <a:srgbClr val="2941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209800" y="5038725"/>
            <a:ext cx="495300" cy="495300"/>
            <a:chOff x="0" y="0"/>
            <a:chExt cx="660400" cy="66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512564" y="0"/>
                    <a:pt x="660400" y="147836"/>
                    <a:pt x="660400" y="330200"/>
                  </a:cubicBezTo>
                  <a:cubicBezTo>
                    <a:pt x="660400" y="512564"/>
                    <a:pt x="512564" y="660400"/>
                    <a:pt x="330200" y="660400"/>
                  </a:cubicBezTo>
                  <a:cubicBezTo>
                    <a:pt x="147836" y="660400"/>
                    <a:pt x="0" y="512564"/>
                    <a:pt x="0" y="330200"/>
                  </a:cubicBez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07111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353050" y="5038725"/>
            <a:ext cx="495300" cy="495300"/>
            <a:chOff x="0" y="0"/>
            <a:chExt cx="660400" cy="660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512564" y="0"/>
                    <a:pt x="660400" y="147836"/>
                    <a:pt x="660400" y="330200"/>
                  </a:cubicBezTo>
                  <a:cubicBezTo>
                    <a:pt x="660400" y="512564"/>
                    <a:pt x="512564" y="660400"/>
                    <a:pt x="330200" y="660400"/>
                  </a:cubicBezTo>
                  <a:cubicBezTo>
                    <a:pt x="147836" y="660400"/>
                    <a:pt x="0" y="512564"/>
                    <a:pt x="0" y="330200"/>
                  </a:cubicBez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07111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96300" y="5038725"/>
            <a:ext cx="495300" cy="495300"/>
            <a:chOff x="0" y="0"/>
            <a:chExt cx="660400" cy="660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512564" y="0"/>
                    <a:pt x="660400" y="147836"/>
                    <a:pt x="660400" y="330200"/>
                  </a:cubicBezTo>
                  <a:cubicBezTo>
                    <a:pt x="660400" y="512564"/>
                    <a:pt x="512564" y="660400"/>
                    <a:pt x="330200" y="660400"/>
                  </a:cubicBezTo>
                  <a:cubicBezTo>
                    <a:pt x="147836" y="660400"/>
                    <a:pt x="0" y="512564"/>
                    <a:pt x="0" y="330200"/>
                  </a:cubicBez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49D7E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07111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39550" y="5038725"/>
            <a:ext cx="495300" cy="495300"/>
            <a:chOff x="0" y="0"/>
            <a:chExt cx="660400" cy="660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512564" y="0"/>
                    <a:pt x="660400" y="147836"/>
                    <a:pt x="660400" y="330200"/>
                  </a:cubicBezTo>
                  <a:cubicBezTo>
                    <a:pt x="660400" y="512564"/>
                    <a:pt x="512564" y="660400"/>
                    <a:pt x="330200" y="660400"/>
                  </a:cubicBezTo>
                  <a:cubicBezTo>
                    <a:pt x="147836" y="660400"/>
                    <a:pt x="0" y="512564"/>
                    <a:pt x="0" y="330200"/>
                  </a:cubicBez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07111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782800" y="5038725"/>
            <a:ext cx="495300" cy="495300"/>
            <a:chOff x="0" y="0"/>
            <a:chExt cx="660400" cy="660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512564" y="0"/>
                    <a:pt x="660400" y="147836"/>
                    <a:pt x="660400" y="330200"/>
                  </a:cubicBezTo>
                  <a:cubicBezTo>
                    <a:pt x="660400" y="512564"/>
                    <a:pt x="512564" y="660400"/>
                    <a:pt x="330200" y="660400"/>
                  </a:cubicBezTo>
                  <a:cubicBezTo>
                    <a:pt x="147836" y="660400"/>
                    <a:pt x="0" y="512564"/>
                    <a:pt x="0" y="330200"/>
                  </a:cubicBez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07111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43000" y="3819525"/>
            <a:ext cx="2619375" cy="29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025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SYNCHRONOUS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3000" y="5886450"/>
            <a:ext cx="2619375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Processing selected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86250" y="3819525"/>
            <a:ext cx="2619375" cy="29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025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 1,000 RPM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86250" y="5886450"/>
            <a:ext cx="2619375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Traffic assumption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29500" y="3819525"/>
            <a:ext cx="2619375" cy="29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025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5,000 RPM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29500" y="5886450"/>
            <a:ext cx="2619375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Growth changes reality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72750" y="3819525"/>
            <a:ext cx="2619375" cy="29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025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LATENCY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72750" y="5886450"/>
            <a:ext cx="2619375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Timeouts emerge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16000" y="3819525"/>
            <a:ext cx="2619375" cy="29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025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ASYNCHRONOUS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16000" y="5886450"/>
            <a:ext cx="2619375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Migration required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857500" y="7762875"/>
            <a:ext cx="12573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The missing artifact: why the original assumption was acceptable—and when it should be revisited.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D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00050"/>
            <a:ext cx="14287500" cy="1733550"/>
            <a:chOff x="0" y="0"/>
            <a:chExt cx="19050000" cy="2311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25425"/>
              <a:ext cx="330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49D7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 / OUR SOLUTION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46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ASSUMPTION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92300"/>
              <a:ext cx="19050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An organizational decision-intelligence system built to test remembered reasoning against present conditions.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914400" cy="63500"/>
              <a:chOff x="0" y="0"/>
              <a:chExt cx="914400" cy="63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49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6191250" y="3381375"/>
            <a:ext cx="5905500" cy="2952750"/>
            <a:chOff x="0" y="0"/>
            <a:chExt cx="7874000" cy="393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74000" cy="3937000"/>
            </a:xfrm>
            <a:custGeom>
              <a:avLst/>
              <a:gdLst/>
              <a:ahLst/>
              <a:cxnLst/>
              <a:rect r="r" b="b" t="t" l="l"/>
              <a:pathLst>
                <a:path h="3937000" w="7874000">
                  <a:moveTo>
                    <a:pt x="61452" y="0"/>
                  </a:moveTo>
                  <a:lnTo>
                    <a:pt x="7812549" y="0"/>
                  </a:lnTo>
                  <a:cubicBezTo>
                    <a:pt x="7846487" y="0"/>
                    <a:pt x="7874000" y="27513"/>
                    <a:pt x="7874000" y="61452"/>
                  </a:cubicBezTo>
                  <a:lnTo>
                    <a:pt x="7874000" y="3875548"/>
                  </a:lnTo>
                  <a:cubicBezTo>
                    <a:pt x="7874000" y="3909487"/>
                    <a:pt x="7846487" y="3937000"/>
                    <a:pt x="7812549" y="3937000"/>
                  </a:cubicBezTo>
                  <a:lnTo>
                    <a:pt x="61452" y="3937000"/>
                  </a:lnTo>
                  <a:cubicBezTo>
                    <a:pt x="27513" y="3937000"/>
                    <a:pt x="0" y="3909487"/>
                    <a:pt x="0" y="3875548"/>
                  </a:cubicBezTo>
                  <a:lnTo>
                    <a:pt x="0" y="61452"/>
                  </a:lnTo>
                  <a:cubicBezTo>
                    <a:pt x="0" y="27513"/>
                    <a:pt x="27513" y="0"/>
                    <a:pt x="61452" y="0"/>
                  </a:cubicBezTo>
                  <a:close/>
                </a:path>
              </a:pathLst>
            </a:custGeom>
            <a:solidFill>
              <a:srgbClr val="102D49"/>
            </a:solidFill>
            <a:ln w="19050" cap="rnd">
              <a:solidFill>
                <a:srgbClr val="49D7E8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7874000" cy="393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0"/>
                </a:lnSpc>
              </a:pPr>
              <a:r>
                <a:rPr lang="en-US" sz="2925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DO THE OLD ASSUMPTIONS</a:t>
              </a:r>
            </a:p>
            <a:p>
              <a:pPr algn="ctr">
                <a:lnSpc>
                  <a:spcPts val="3510"/>
                </a:lnSpc>
              </a:pPr>
              <a:r>
                <a:rPr lang="en-US" sz="2925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STILL HOLD TODAY?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762500" y="5381625"/>
            <a:ext cx="1238250" cy="0"/>
          </a:xfrm>
          <a:prstGeom prst="line">
            <a:avLst/>
          </a:prstGeom>
          <a:ln cap="flat" w="28575">
            <a:solidFill>
              <a:srgbClr val="2F7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2287250" y="5381625"/>
            <a:ext cx="1238250" cy="0"/>
          </a:xfrm>
          <a:prstGeom prst="line">
            <a:avLst/>
          </a:prstGeom>
          <a:ln cap="flat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714500" y="4305300"/>
            <a:ext cx="285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20">
                <a:solidFill>
                  <a:srgbClr val="49D7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PAST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4500" y="4914900"/>
            <a:ext cx="285750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Historical decisions</a:t>
            </a:r>
          </a:p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Assumptions</a:t>
            </a:r>
          </a:p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Outcomes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16000" y="4305300"/>
            <a:ext cx="285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20">
                <a:solidFill>
                  <a:srgbClr val="49D7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PRESENT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16000" y="4914900"/>
            <a:ext cx="285750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Current conditions</a:t>
            </a:r>
          </a:p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New decision context</a:t>
            </a:r>
          </a:p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Available evidence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19500" y="7629525"/>
            <a:ext cx="11049000" cy="26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6"/>
              </a:lnSpc>
            </a:pPr>
            <a:r>
              <a:rPr lang="en-US" sz="1875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Before a similar decision is made again, retrieve the experience that should inform it.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00050"/>
            <a:ext cx="14287500" cy="1323594"/>
            <a:chOff x="0" y="0"/>
            <a:chExt cx="19050000" cy="176479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25425"/>
              <a:ext cx="330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49D7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 / HOW IT WORKS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46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From a new decision to evidence-aware support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914400" cy="63500"/>
              <a:chOff x="0" y="0"/>
              <a:chExt cx="914400" cy="63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49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742950" y="4000500"/>
            <a:ext cx="1809750" cy="1428750"/>
            <a:chOff x="0" y="0"/>
            <a:chExt cx="2413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784684"/>
                  </a:lnTo>
                  <a:cubicBezTo>
                    <a:pt x="2413000" y="1816594"/>
                    <a:pt x="2400324" y="1847197"/>
                    <a:pt x="2377760" y="1869760"/>
                  </a:cubicBezTo>
                  <a:cubicBezTo>
                    <a:pt x="2355197" y="1892324"/>
                    <a:pt x="2324594" y="1905000"/>
                    <a:pt x="2292684" y="1905000"/>
                  </a:cubicBezTo>
                  <a:lnTo>
                    <a:pt x="120316" y="1905000"/>
                  </a:lnTo>
                  <a:cubicBezTo>
                    <a:pt x="88406" y="1905000"/>
                    <a:pt x="57803" y="1892324"/>
                    <a:pt x="35240" y="1869760"/>
                  </a:cubicBezTo>
                  <a:cubicBezTo>
                    <a:pt x="12676" y="1847197"/>
                    <a:pt x="0" y="1816594"/>
                    <a:pt x="0" y="1784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413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NEW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DECISION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2552700" y="4714875"/>
            <a:ext cx="266700" cy="0"/>
          </a:xfrm>
          <a:prstGeom prst="line">
            <a:avLst/>
          </a:prstGeom>
          <a:ln cap="rnd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2924175" y="4000500"/>
            <a:ext cx="1809750" cy="1428750"/>
            <a:chOff x="0" y="0"/>
            <a:chExt cx="2413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784684"/>
                  </a:lnTo>
                  <a:cubicBezTo>
                    <a:pt x="2413000" y="1816594"/>
                    <a:pt x="2400324" y="1847197"/>
                    <a:pt x="2377760" y="1869760"/>
                  </a:cubicBezTo>
                  <a:cubicBezTo>
                    <a:pt x="2355197" y="1892324"/>
                    <a:pt x="2324594" y="1905000"/>
                    <a:pt x="2292684" y="1905000"/>
                  </a:cubicBezTo>
                  <a:lnTo>
                    <a:pt x="120316" y="1905000"/>
                  </a:lnTo>
                  <a:cubicBezTo>
                    <a:pt x="88406" y="1905000"/>
                    <a:pt x="57803" y="1892324"/>
                    <a:pt x="35240" y="1869760"/>
                  </a:cubicBezTo>
                  <a:cubicBezTo>
                    <a:pt x="12676" y="1847197"/>
                    <a:pt x="0" y="1816594"/>
                    <a:pt x="0" y="1784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413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CURRENT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CONDITIONS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4733925" y="4714875"/>
            <a:ext cx="266700" cy="0"/>
          </a:xfrm>
          <a:prstGeom prst="line">
            <a:avLst/>
          </a:prstGeom>
          <a:ln cap="rnd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5105400" y="4000500"/>
            <a:ext cx="1809750" cy="1428750"/>
            <a:chOff x="0" y="0"/>
            <a:chExt cx="2413000" cy="190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784684"/>
                  </a:lnTo>
                  <a:cubicBezTo>
                    <a:pt x="2413000" y="1816594"/>
                    <a:pt x="2400324" y="1847197"/>
                    <a:pt x="2377760" y="1869760"/>
                  </a:cubicBezTo>
                  <a:cubicBezTo>
                    <a:pt x="2355197" y="1892324"/>
                    <a:pt x="2324594" y="1905000"/>
                    <a:pt x="2292684" y="1905000"/>
                  </a:cubicBezTo>
                  <a:lnTo>
                    <a:pt x="120316" y="1905000"/>
                  </a:lnTo>
                  <a:cubicBezTo>
                    <a:pt x="88406" y="1905000"/>
                    <a:pt x="57803" y="1892324"/>
                    <a:pt x="35240" y="1869760"/>
                  </a:cubicBezTo>
                  <a:cubicBezTo>
                    <a:pt x="12676" y="1847197"/>
                    <a:pt x="0" y="1816594"/>
                    <a:pt x="0" y="1784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7476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413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SEARCH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MEMORY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6915150" y="4714875"/>
            <a:ext cx="266700" cy="0"/>
          </a:xfrm>
          <a:prstGeom prst="line">
            <a:avLst/>
          </a:prstGeom>
          <a:ln cap="rnd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7286625" y="4000500"/>
            <a:ext cx="1809750" cy="1428750"/>
            <a:chOff x="0" y="0"/>
            <a:chExt cx="2413000" cy="190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784684"/>
                  </a:lnTo>
                  <a:cubicBezTo>
                    <a:pt x="2413000" y="1816594"/>
                    <a:pt x="2400324" y="1847197"/>
                    <a:pt x="2377760" y="1869760"/>
                  </a:cubicBezTo>
                  <a:cubicBezTo>
                    <a:pt x="2355197" y="1892324"/>
                    <a:pt x="2324594" y="1905000"/>
                    <a:pt x="2292684" y="1905000"/>
                  </a:cubicBezTo>
                  <a:lnTo>
                    <a:pt x="120316" y="1905000"/>
                  </a:lnTo>
                  <a:cubicBezTo>
                    <a:pt x="88406" y="1905000"/>
                    <a:pt x="57803" y="1892324"/>
                    <a:pt x="35240" y="1869760"/>
                  </a:cubicBezTo>
                  <a:cubicBezTo>
                    <a:pt x="12676" y="1847197"/>
                    <a:pt x="0" y="1816594"/>
                    <a:pt x="0" y="1784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413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HISTORICAL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DECISIONS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9096375" y="4714875"/>
            <a:ext cx="266700" cy="0"/>
          </a:xfrm>
          <a:prstGeom prst="line">
            <a:avLst/>
          </a:prstGeom>
          <a:ln cap="rnd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9467850" y="4000500"/>
            <a:ext cx="1809750" cy="1428750"/>
            <a:chOff x="0" y="0"/>
            <a:chExt cx="2413000" cy="1905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784684"/>
                  </a:lnTo>
                  <a:cubicBezTo>
                    <a:pt x="2413000" y="1816594"/>
                    <a:pt x="2400324" y="1847197"/>
                    <a:pt x="2377760" y="1869760"/>
                  </a:cubicBezTo>
                  <a:cubicBezTo>
                    <a:pt x="2355197" y="1892324"/>
                    <a:pt x="2324594" y="1905000"/>
                    <a:pt x="2292684" y="1905000"/>
                  </a:cubicBezTo>
                  <a:lnTo>
                    <a:pt x="120316" y="1905000"/>
                  </a:lnTo>
                  <a:cubicBezTo>
                    <a:pt x="88406" y="1905000"/>
                    <a:pt x="57803" y="1892324"/>
                    <a:pt x="35240" y="1869760"/>
                  </a:cubicBezTo>
                  <a:cubicBezTo>
                    <a:pt x="12676" y="1847197"/>
                    <a:pt x="0" y="1816594"/>
                    <a:pt x="0" y="1784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413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ASSUMPTIONS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&amp; OUTCOMES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1277600" y="4714875"/>
            <a:ext cx="266700" cy="0"/>
          </a:xfrm>
          <a:prstGeom prst="line">
            <a:avLst/>
          </a:prstGeom>
          <a:ln cap="rnd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1649075" y="4000500"/>
            <a:ext cx="1809750" cy="1428750"/>
            <a:chOff x="0" y="0"/>
            <a:chExt cx="2413000" cy="1905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784684"/>
                  </a:lnTo>
                  <a:cubicBezTo>
                    <a:pt x="2413000" y="1816594"/>
                    <a:pt x="2400324" y="1847197"/>
                    <a:pt x="2377760" y="1869760"/>
                  </a:cubicBezTo>
                  <a:cubicBezTo>
                    <a:pt x="2355197" y="1892324"/>
                    <a:pt x="2324594" y="1905000"/>
                    <a:pt x="2292684" y="1905000"/>
                  </a:cubicBezTo>
                  <a:lnTo>
                    <a:pt x="120316" y="1905000"/>
                  </a:lnTo>
                  <a:cubicBezTo>
                    <a:pt x="88406" y="1905000"/>
                    <a:pt x="57803" y="1892324"/>
                    <a:pt x="35240" y="1869760"/>
                  </a:cubicBezTo>
                  <a:cubicBezTo>
                    <a:pt x="12676" y="1847197"/>
                    <a:pt x="0" y="1816594"/>
                    <a:pt x="0" y="1784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413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COMPARE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3458825" y="4714875"/>
            <a:ext cx="266700" cy="0"/>
          </a:xfrm>
          <a:prstGeom prst="line">
            <a:avLst/>
          </a:prstGeom>
          <a:ln cap="rnd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3830300" y="4000500"/>
            <a:ext cx="1809750" cy="1428750"/>
            <a:chOff x="0" y="0"/>
            <a:chExt cx="2413000" cy="1905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784684"/>
                  </a:lnTo>
                  <a:cubicBezTo>
                    <a:pt x="2413000" y="1816594"/>
                    <a:pt x="2400324" y="1847197"/>
                    <a:pt x="2377760" y="1869760"/>
                  </a:cubicBezTo>
                  <a:cubicBezTo>
                    <a:pt x="2355197" y="1892324"/>
                    <a:pt x="2324594" y="1905000"/>
                    <a:pt x="2292684" y="1905000"/>
                  </a:cubicBezTo>
                  <a:lnTo>
                    <a:pt x="120316" y="1905000"/>
                  </a:lnTo>
                  <a:cubicBezTo>
                    <a:pt x="88406" y="1905000"/>
                    <a:pt x="57803" y="1892324"/>
                    <a:pt x="35240" y="1869760"/>
                  </a:cubicBezTo>
                  <a:cubicBezTo>
                    <a:pt x="12676" y="1847197"/>
                    <a:pt x="0" y="1816594"/>
                    <a:pt x="0" y="1784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413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ANALYSIS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>
            <a:off x="15640050" y="4714875"/>
            <a:ext cx="266700" cy="0"/>
          </a:xfrm>
          <a:prstGeom prst="line">
            <a:avLst/>
          </a:prstGeom>
          <a:ln cap="rnd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6011525" y="4000500"/>
            <a:ext cx="1809750" cy="1428750"/>
            <a:chOff x="0" y="0"/>
            <a:chExt cx="2413000" cy="1905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784684"/>
                  </a:lnTo>
                  <a:cubicBezTo>
                    <a:pt x="2413000" y="1816594"/>
                    <a:pt x="2400324" y="1847197"/>
                    <a:pt x="2377760" y="1869760"/>
                  </a:cubicBezTo>
                  <a:cubicBezTo>
                    <a:pt x="2355197" y="1892324"/>
                    <a:pt x="2324594" y="1905000"/>
                    <a:pt x="2292684" y="1905000"/>
                  </a:cubicBezTo>
                  <a:lnTo>
                    <a:pt x="120316" y="1905000"/>
                  </a:lnTo>
                  <a:cubicBezTo>
                    <a:pt x="88406" y="1905000"/>
                    <a:pt x="57803" y="1892324"/>
                    <a:pt x="35240" y="1869760"/>
                  </a:cubicBezTo>
                  <a:cubicBezTo>
                    <a:pt x="12676" y="1847197"/>
                    <a:pt x="0" y="1816594"/>
                    <a:pt x="0" y="1784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7476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413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DECISION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SUPPORT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4953000" y="6162675"/>
            <a:ext cx="3714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20">
                <a:solidFill>
                  <a:srgbClr val="49D7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RETRIEVE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20250" y="6162675"/>
            <a:ext cx="3714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20">
                <a:solidFill>
                  <a:srgbClr val="49D7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REASON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000500" y="7724775"/>
            <a:ext cx="102870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70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SUPPORT — NOT REPLACE — THE DECISION MAKER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00050"/>
            <a:ext cx="14287500" cy="1733550"/>
            <a:chOff x="0" y="0"/>
            <a:chExt cx="19050000" cy="2311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25425"/>
              <a:ext cx="330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49D7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 / MEMORY LAYER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46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Hindsight is the persistent memory layer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92300"/>
              <a:ext cx="19050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Not a generic database: a substrate for retrieval and reasoning over prior organizational experience.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914400" cy="63500"/>
              <a:chOff x="0" y="0"/>
              <a:chExt cx="914400" cy="63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49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7239000" y="3048000"/>
            <a:ext cx="10287000" cy="6191250"/>
          </a:xfrm>
          <a:custGeom>
            <a:avLst/>
            <a:gdLst/>
            <a:ahLst/>
            <a:cxnLst/>
            <a:rect r="r" b="b" t="t" l="l"/>
            <a:pathLst>
              <a:path h="6191250" w="10287000">
                <a:moveTo>
                  <a:pt x="0" y="0"/>
                </a:moveTo>
                <a:lnTo>
                  <a:pt x="10287000" y="0"/>
                </a:lnTo>
                <a:lnTo>
                  <a:pt x="1028700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" t="0" r="-5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990600" y="3800475"/>
            <a:ext cx="542925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540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HINDSIGHT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5305425"/>
            <a:ext cx="447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49D7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PERSISTS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600" y="5695950"/>
            <a:ext cx="4953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decision context beyond individual tenure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0600" y="6734175"/>
            <a:ext cx="447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49D7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RETRIEVES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0600" y="7124700"/>
            <a:ext cx="4953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relevant prior experience when it matters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0600" y="8162925"/>
            <a:ext cx="447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49D7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REASONS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0600" y="8553450"/>
            <a:ext cx="5334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across assumptions, conditions and outcomes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00050"/>
            <a:ext cx="14287500" cy="1733550"/>
            <a:chOff x="0" y="0"/>
            <a:chExt cx="19050000" cy="2311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25425"/>
              <a:ext cx="330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49D7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06 / OUTCOMES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46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Four evidence-aware outcomes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92300"/>
              <a:ext cx="19050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Clear signals, each grounded in what organizational memory can—or cannot—support.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914400" cy="63500"/>
              <a:chOff x="0" y="0"/>
              <a:chExt cx="914400" cy="63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49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990600" y="3333750"/>
            <a:ext cx="8001000" cy="2381250"/>
            <a:chOff x="0" y="0"/>
            <a:chExt cx="10668000" cy="3175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668000" cy="3175000"/>
              <a:chOff x="0" y="0"/>
              <a:chExt cx="10668000" cy="3175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668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0668000">
                    <a:moveTo>
                      <a:pt x="0" y="0"/>
                    </a:moveTo>
                    <a:lnTo>
                      <a:pt x="10668000" y="0"/>
                    </a:lnTo>
                    <a:lnTo>
                      <a:pt x="10668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4243A"/>
              </a:solidFill>
              <a:ln w="9525" cap="sq">
                <a:solidFill>
                  <a:srgbClr val="29415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668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152400" cy="3175000"/>
              <a:chOff x="0" y="0"/>
              <a:chExt cx="152400" cy="3175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524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43D6A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524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800" y="542925"/>
              <a:ext cx="8890000" cy="899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3"/>
                </a:lnSpc>
              </a:pPr>
              <a:r>
                <a:rPr lang="en-US" sz="2325" b="true">
                  <a:solidFill>
                    <a:srgbClr val="43D6A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ASSUMPTION</a:t>
              </a:r>
            </a:p>
            <a:p>
              <a:pPr algn="l">
                <a:lnSpc>
                  <a:spcPts val="2673"/>
                </a:lnSpc>
              </a:pPr>
              <a:r>
                <a:rPr lang="en-US" sz="2325" b="true">
                  <a:solidFill>
                    <a:srgbClr val="43D6A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STILL VALID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85800" y="1720850"/>
              <a:ext cx="8890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Historical evidence and current conditions remain aligned.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96400" y="3333750"/>
            <a:ext cx="8001000" cy="2381250"/>
            <a:chOff x="0" y="0"/>
            <a:chExt cx="10668000" cy="3175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668000" cy="3175000"/>
              <a:chOff x="0" y="0"/>
              <a:chExt cx="10668000" cy="3175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668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0668000">
                    <a:moveTo>
                      <a:pt x="0" y="0"/>
                    </a:moveTo>
                    <a:lnTo>
                      <a:pt x="10668000" y="0"/>
                    </a:lnTo>
                    <a:lnTo>
                      <a:pt x="10668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4243A"/>
              </a:solidFill>
              <a:ln w="9525" cap="sq">
                <a:solidFill>
                  <a:srgbClr val="29415F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668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152400" cy="3175000"/>
              <a:chOff x="0" y="0"/>
              <a:chExt cx="152400" cy="3175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524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BF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524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85800" y="542925"/>
              <a:ext cx="8890000" cy="899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3"/>
                </a:lnSpc>
              </a:pPr>
              <a:r>
                <a:rPr lang="en-US" sz="2325" b="true">
                  <a:solidFill>
                    <a:srgbClr val="FFBF5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ASSUMPTION</a:t>
              </a:r>
            </a:p>
            <a:p>
              <a:pPr algn="l">
                <a:lnSpc>
                  <a:spcPts val="2673"/>
                </a:lnSpc>
              </a:pPr>
              <a:r>
                <a:rPr lang="en-US" sz="2325" b="true">
                  <a:solidFill>
                    <a:srgbClr val="FFBF5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AT RISK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85800" y="1720850"/>
              <a:ext cx="8890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Conditions are shifting; the premise deserves explicit review.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0600" y="6286500"/>
            <a:ext cx="8001000" cy="2381250"/>
            <a:chOff x="0" y="0"/>
            <a:chExt cx="10668000" cy="3175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0668000" cy="3175000"/>
              <a:chOff x="0" y="0"/>
              <a:chExt cx="10668000" cy="3175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668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0668000">
                    <a:moveTo>
                      <a:pt x="0" y="0"/>
                    </a:moveTo>
                    <a:lnTo>
                      <a:pt x="10668000" y="0"/>
                    </a:lnTo>
                    <a:lnTo>
                      <a:pt x="10668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4243A"/>
              </a:solidFill>
              <a:ln w="9525" cap="sq">
                <a:solidFill>
                  <a:srgbClr val="29415F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668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152400" cy="3175000"/>
              <a:chOff x="0" y="0"/>
              <a:chExt cx="152400" cy="3175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524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65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524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685800" y="542925"/>
              <a:ext cx="8890000" cy="899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3"/>
                </a:lnSpc>
              </a:pPr>
              <a:r>
                <a:rPr lang="en-US" sz="2325" b="true">
                  <a:solidFill>
                    <a:srgbClr val="FF65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ASSUMPTION</a:t>
              </a:r>
            </a:p>
            <a:p>
              <a:pPr algn="l">
                <a:lnSpc>
                  <a:spcPts val="2673"/>
                </a:lnSpc>
              </a:pPr>
              <a:r>
                <a:rPr lang="en-US" sz="2325" b="true">
                  <a:solidFill>
                    <a:srgbClr val="FF65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 LONGER VALID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685800" y="1720850"/>
              <a:ext cx="8890000" cy="713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Current conditions conflict with the remembered basis for the decision.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296400" y="6286500"/>
            <a:ext cx="8001000" cy="2381250"/>
            <a:chOff x="0" y="0"/>
            <a:chExt cx="10668000" cy="3175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0668000" cy="3175000"/>
              <a:chOff x="0" y="0"/>
              <a:chExt cx="10668000" cy="3175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668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0668000">
                    <a:moveTo>
                      <a:pt x="0" y="0"/>
                    </a:moveTo>
                    <a:lnTo>
                      <a:pt x="10668000" y="0"/>
                    </a:lnTo>
                    <a:lnTo>
                      <a:pt x="10668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4243A"/>
              </a:solidFill>
              <a:ln w="9525" cap="sq">
                <a:solidFill>
                  <a:srgbClr val="29415F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0668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0"/>
              <a:ext cx="152400" cy="3175000"/>
              <a:chOff x="0" y="0"/>
              <a:chExt cx="152400" cy="3175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524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524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685800" y="542925"/>
              <a:ext cx="8890000" cy="899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3"/>
                </a:lnSpc>
              </a:pPr>
              <a:r>
                <a:rPr lang="en-US" sz="2325" b="true">
                  <a:solidFill>
                    <a:srgbClr val="2F7D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INSUFFICIENT HISTORICAL</a:t>
              </a:r>
            </a:p>
            <a:p>
              <a:pPr algn="l">
                <a:lnSpc>
                  <a:spcPts val="2673"/>
                </a:lnSpc>
              </a:pPr>
              <a:r>
                <a:rPr lang="en-US" sz="2325" b="true">
                  <a:solidFill>
                    <a:srgbClr val="2F7D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EVIDENCE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685800" y="1720850"/>
              <a:ext cx="8890000" cy="713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Memory does not yet support a confident evidence-aware assessment.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D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00050"/>
            <a:ext cx="14287500" cy="1270254"/>
            <a:chOff x="0" y="0"/>
            <a:chExt cx="19050000" cy="169367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25425"/>
              <a:ext cx="330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49D7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 / ARCHITECTURE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36625"/>
              <a:ext cx="19050000" cy="757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93"/>
                </a:lnSpc>
              </a:pPr>
              <a:r>
                <a:rPr lang="en-US" sz="3975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 focused path from intent to remembered evidence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914400" cy="63500"/>
              <a:chOff x="0" y="0"/>
              <a:chExt cx="914400" cy="63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49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1047750" y="3333750"/>
            <a:ext cx="2571750" cy="1143000"/>
            <a:chOff x="0" y="0"/>
            <a:chExt cx="3429000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1439333"/>
                  </a:lnTo>
                  <a:cubicBezTo>
                    <a:pt x="3429000" y="1486093"/>
                    <a:pt x="3391093" y="1524000"/>
                    <a:pt x="3344333" y="1524000"/>
                  </a:cubicBezTo>
                  <a:lnTo>
                    <a:pt x="84667" y="1524000"/>
                  </a:lnTo>
                  <a:cubicBezTo>
                    <a:pt x="37907" y="1524000"/>
                    <a:pt x="0" y="1486093"/>
                    <a:pt x="0" y="1439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3429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DECISION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MAKER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381500" y="3333750"/>
            <a:ext cx="2857500" cy="1143000"/>
            <a:chOff x="0" y="0"/>
            <a:chExt cx="3810000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447800"/>
                  </a:lnTo>
                  <a:cubicBezTo>
                    <a:pt x="3810000" y="1489884"/>
                    <a:pt x="3775884" y="1524000"/>
                    <a:pt x="3733800" y="1524000"/>
                  </a:cubicBezTo>
                  <a:lnTo>
                    <a:pt x="76200" y="1524000"/>
                  </a:lnTo>
                  <a:cubicBezTo>
                    <a:pt x="34116" y="1524000"/>
                    <a:pt x="0" y="1489884"/>
                    <a:pt x="0" y="1447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23354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3810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WEB UI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HTML / CSS / JS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01000" y="3333750"/>
            <a:ext cx="2857500" cy="1143000"/>
            <a:chOff x="0" y="0"/>
            <a:chExt cx="3810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447800"/>
                  </a:lnTo>
                  <a:cubicBezTo>
                    <a:pt x="3810000" y="1489884"/>
                    <a:pt x="3775884" y="1524000"/>
                    <a:pt x="3733800" y="1524000"/>
                  </a:cubicBezTo>
                  <a:lnTo>
                    <a:pt x="76200" y="1524000"/>
                  </a:lnTo>
                  <a:cubicBezTo>
                    <a:pt x="34116" y="1524000"/>
                    <a:pt x="0" y="1489884"/>
                    <a:pt x="0" y="1447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23354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3810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PYTHON / FASTAPI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20500" y="3333750"/>
            <a:ext cx="5429250" cy="1143000"/>
            <a:chOff x="0" y="0"/>
            <a:chExt cx="7239000" cy="152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3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7239000">
                  <a:moveTo>
                    <a:pt x="40105" y="0"/>
                  </a:moveTo>
                  <a:lnTo>
                    <a:pt x="7198895" y="0"/>
                  </a:lnTo>
                  <a:cubicBezTo>
                    <a:pt x="7221045" y="0"/>
                    <a:pt x="7239000" y="17956"/>
                    <a:pt x="7239000" y="40105"/>
                  </a:cubicBezTo>
                  <a:lnTo>
                    <a:pt x="7239000" y="1483895"/>
                  </a:lnTo>
                  <a:cubicBezTo>
                    <a:pt x="7239000" y="1506044"/>
                    <a:pt x="7221045" y="1524000"/>
                    <a:pt x="7198895" y="1524000"/>
                  </a:cubicBezTo>
                  <a:lnTo>
                    <a:pt x="40105" y="1524000"/>
                  </a:lnTo>
                  <a:cubicBezTo>
                    <a:pt x="17956" y="1524000"/>
                    <a:pt x="0" y="1506044"/>
                    <a:pt x="0" y="1483895"/>
                  </a:cubicBezTo>
                  <a:lnTo>
                    <a:pt x="0" y="40105"/>
                  </a:lnTo>
                  <a:cubicBezTo>
                    <a:pt x="0" y="17956"/>
                    <a:pt x="17956" y="0"/>
                    <a:pt x="40105" y="0"/>
                  </a:cubicBezTo>
                  <a:close/>
                </a:path>
              </a:pathLst>
            </a:custGeom>
            <a:solidFill>
              <a:srgbClr val="17476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7239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HINDSIGHT MEMORY + REASONING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3619500" y="3905250"/>
            <a:ext cx="666750" cy="0"/>
          </a:xfrm>
          <a:prstGeom prst="line">
            <a:avLst/>
          </a:prstGeom>
          <a:ln cap="flat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7239000" y="3905250"/>
            <a:ext cx="666750" cy="0"/>
          </a:xfrm>
          <a:prstGeom prst="line">
            <a:avLst/>
          </a:prstGeom>
          <a:ln cap="flat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0858500" y="3905250"/>
            <a:ext cx="666750" cy="0"/>
          </a:xfrm>
          <a:prstGeom prst="line">
            <a:avLst/>
          </a:prstGeom>
          <a:ln cap="flat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2952750" y="6191250"/>
            <a:ext cx="3524250" cy="1238250"/>
            <a:chOff x="0" y="0"/>
            <a:chExt cx="4699000" cy="165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99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699000">
                  <a:moveTo>
                    <a:pt x="61784" y="0"/>
                  </a:moveTo>
                  <a:lnTo>
                    <a:pt x="4637216" y="0"/>
                  </a:lnTo>
                  <a:cubicBezTo>
                    <a:pt x="4653602" y="0"/>
                    <a:pt x="4669317" y="6509"/>
                    <a:pt x="4680904" y="18096"/>
                  </a:cubicBezTo>
                  <a:cubicBezTo>
                    <a:pt x="4692491" y="29683"/>
                    <a:pt x="4699000" y="45398"/>
                    <a:pt x="4699000" y="61784"/>
                  </a:cubicBezTo>
                  <a:lnTo>
                    <a:pt x="4699000" y="1589216"/>
                  </a:lnTo>
                  <a:cubicBezTo>
                    <a:pt x="4699000" y="1605602"/>
                    <a:pt x="4692491" y="1621317"/>
                    <a:pt x="4680904" y="1632904"/>
                  </a:cubicBezTo>
                  <a:cubicBezTo>
                    <a:pt x="4669317" y="1644491"/>
                    <a:pt x="4653602" y="1651000"/>
                    <a:pt x="4637216" y="1651000"/>
                  </a:cubicBezTo>
                  <a:lnTo>
                    <a:pt x="61784" y="1651000"/>
                  </a:lnTo>
                  <a:cubicBezTo>
                    <a:pt x="45398" y="1651000"/>
                    <a:pt x="29683" y="1644491"/>
                    <a:pt x="18096" y="1632904"/>
                  </a:cubicBezTo>
                  <a:cubicBezTo>
                    <a:pt x="6509" y="1621317"/>
                    <a:pt x="0" y="1605602"/>
                    <a:pt x="0" y="1589216"/>
                  </a:cubicBezTo>
                  <a:lnTo>
                    <a:pt x="0" y="61784"/>
                  </a:lnTo>
                  <a:cubicBezTo>
                    <a:pt x="0" y="45398"/>
                    <a:pt x="6509" y="29683"/>
                    <a:pt x="18096" y="18096"/>
                  </a:cubicBezTo>
                  <a:cubicBezTo>
                    <a:pt x="29683" y="6509"/>
                    <a:pt x="45398" y="0"/>
                    <a:pt x="61784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4699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HISTORICAL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EVIDENCE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81875" y="6191250"/>
            <a:ext cx="3524250" cy="1238250"/>
            <a:chOff x="0" y="0"/>
            <a:chExt cx="4699000" cy="1651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99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699000">
                  <a:moveTo>
                    <a:pt x="61784" y="0"/>
                  </a:moveTo>
                  <a:lnTo>
                    <a:pt x="4637216" y="0"/>
                  </a:lnTo>
                  <a:cubicBezTo>
                    <a:pt x="4653602" y="0"/>
                    <a:pt x="4669317" y="6509"/>
                    <a:pt x="4680904" y="18096"/>
                  </a:cubicBezTo>
                  <a:cubicBezTo>
                    <a:pt x="4692491" y="29683"/>
                    <a:pt x="4699000" y="45398"/>
                    <a:pt x="4699000" y="61784"/>
                  </a:cubicBezTo>
                  <a:lnTo>
                    <a:pt x="4699000" y="1589216"/>
                  </a:lnTo>
                  <a:cubicBezTo>
                    <a:pt x="4699000" y="1605602"/>
                    <a:pt x="4692491" y="1621317"/>
                    <a:pt x="4680904" y="1632904"/>
                  </a:cubicBezTo>
                  <a:cubicBezTo>
                    <a:pt x="4669317" y="1644491"/>
                    <a:pt x="4653602" y="1651000"/>
                    <a:pt x="4637216" y="1651000"/>
                  </a:cubicBezTo>
                  <a:lnTo>
                    <a:pt x="61784" y="1651000"/>
                  </a:lnTo>
                  <a:cubicBezTo>
                    <a:pt x="45398" y="1651000"/>
                    <a:pt x="29683" y="1644491"/>
                    <a:pt x="18096" y="1632904"/>
                  </a:cubicBezTo>
                  <a:cubicBezTo>
                    <a:pt x="6509" y="1621317"/>
                    <a:pt x="0" y="1605602"/>
                    <a:pt x="0" y="1589216"/>
                  </a:cubicBezTo>
                  <a:lnTo>
                    <a:pt x="0" y="61784"/>
                  </a:lnTo>
                  <a:cubicBezTo>
                    <a:pt x="0" y="45398"/>
                    <a:pt x="6509" y="29683"/>
                    <a:pt x="18096" y="18096"/>
                  </a:cubicBezTo>
                  <a:cubicBezTo>
                    <a:pt x="29683" y="6509"/>
                    <a:pt x="45398" y="0"/>
                    <a:pt x="61784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4699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ANALYSIS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11000" y="6191250"/>
            <a:ext cx="3524250" cy="1238250"/>
            <a:chOff x="0" y="0"/>
            <a:chExt cx="4699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99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699000">
                  <a:moveTo>
                    <a:pt x="61784" y="0"/>
                  </a:moveTo>
                  <a:lnTo>
                    <a:pt x="4637216" y="0"/>
                  </a:lnTo>
                  <a:cubicBezTo>
                    <a:pt x="4653602" y="0"/>
                    <a:pt x="4669317" y="6509"/>
                    <a:pt x="4680904" y="18096"/>
                  </a:cubicBezTo>
                  <a:cubicBezTo>
                    <a:pt x="4692491" y="29683"/>
                    <a:pt x="4699000" y="45398"/>
                    <a:pt x="4699000" y="61784"/>
                  </a:cubicBezTo>
                  <a:lnTo>
                    <a:pt x="4699000" y="1589216"/>
                  </a:lnTo>
                  <a:cubicBezTo>
                    <a:pt x="4699000" y="1605602"/>
                    <a:pt x="4692491" y="1621317"/>
                    <a:pt x="4680904" y="1632904"/>
                  </a:cubicBezTo>
                  <a:cubicBezTo>
                    <a:pt x="4669317" y="1644491"/>
                    <a:pt x="4653602" y="1651000"/>
                    <a:pt x="4637216" y="1651000"/>
                  </a:cubicBezTo>
                  <a:lnTo>
                    <a:pt x="61784" y="1651000"/>
                  </a:lnTo>
                  <a:cubicBezTo>
                    <a:pt x="45398" y="1651000"/>
                    <a:pt x="29683" y="1644491"/>
                    <a:pt x="18096" y="1632904"/>
                  </a:cubicBezTo>
                  <a:cubicBezTo>
                    <a:pt x="6509" y="1621317"/>
                    <a:pt x="0" y="1605602"/>
                    <a:pt x="0" y="1589216"/>
                  </a:cubicBezTo>
                  <a:lnTo>
                    <a:pt x="0" y="61784"/>
                  </a:lnTo>
                  <a:cubicBezTo>
                    <a:pt x="0" y="45398"/>
                    <a:pt x="6509" y="29683"/>
                    <a:pt x="18096" y="18096"/>
                  </a:cubicBezTo>
                  <a:cubicBezTo>
                    <a:pt x="29683" y="6509"/>
                    <a:pt x="45398" y="0"/>
                    <a:pt x="61784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4699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UI / DECISION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SUPPORT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4335125" y="4572000"/>
            <a:ext cx="0" cy="1143000"/>
          </a:xfrm>
          <a:prstGeom prst="line">
            <a:avLst/>
          </a:prstGeom>
          <a:ln cap="flat" w="28575">
            <a:solidFill>
              <a:srgbClr val="2F7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>
            <a:off x="11096625" y="6810375"/>
            <a:ext cx="714375" cy="0"/>
          </a:xfrm>
          <a:prstGeom prst="line">
            <a:avLst/>
          </a:prstGeom>
          <a:ln cap="flat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H="true">
            <a:off x="6667500" y="6810375"/>
            <a:ext cx="714375" cy="0"/>
          </a:xfrm>
          <a:prstGeom prst="line">
            <a:avLst/>
          </a:prstGeom>
          <a:ln cap="flat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4857750" y="8296275"/>
            <a:ext cx="857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144">
                <a:solidFill>
                  <a:srgbClr val="49D7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RETRIEVE  →  COMPARE  →  EXPLAIN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00050"/>
            <a:ext cx="14287500" cy="1323594"/>
            <a:chOff x="0" y="0"/>
            <a:chExt cx="19050000" cy="176479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25425"/>
              <a:ext cx="330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49D7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08 / COMPARISON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46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 decision with memory vs. without memory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914400" cy="63500"/>
              <a:chOff x="0" y="0"/>
              <a:chExt cx="914400" cy="63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49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990600" y="2857500"/>
            <a:ext cx="7239000" cy="5905500"/>
            <a:chOff x="0" y="0"/>
            <a:chExt cx="9652000" cy="787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52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101C2D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52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8400" y="2857500"/>
            <a:ext cx="7239000" cy="5905500"/>
            <a:chOff x="0" y="0"/>
            <a:chExt cx="9652000" cy="787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52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102B43"/>
            </a:solidFill>
            <a:ln w="19050" cap="sq">
              <a:solidFill>
                <a:srgbClr val="49D7E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52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144000" y="3143250"/>
            <a:ext cx="0" cy="5334000"/>
          </a:xfrm>
          <a:prstGeom prst="line">
            <a:avLst/>
          </a:prstGeom>
          <a:ln cap="flat" w="19050">
            <a:solidFill>
              <a:srgbClr val="29415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990600" y="3114675"/>
            <a:ext cx="7239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9EB0C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WITHOUT MEMORY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58400" y="3114675"/>
            <a:ext cx="7239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49D7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WITH ASSUMPTION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500" y="4438650"/>
            <a:ext cx="5715000" cy="138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2"/>
              </a:lnSpc>
            </a:pPr>
            <a:r>
              <a:rPr lang="en-US" sz="315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Isolated prompt</a:t>
            </a:r>
          </a:p>
          <a:p>
            <a:pPr algn="ctr">
              <a:lnSpc>
                <a:spcPts val="3622"/>
              </a:lnSpc>
            </a:pPr>
            <a:r>
              <a:rPr lang="en-US" sz="315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</a:t>
            </a:r>
          </a:p>
          <a:p>
            <a:pPr algn="ctr">
              <a:lnSpc>
                <a:spcPts val="3622"/>
              </a:lnSpc>
            </a:pPr>
            <a:r>
              <a:rPr lang="en-US" sz="315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Generic analysis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10875" y="4200525"/>
            <a:ext cx="5715000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70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Historical decision</a:t>
            </a:r>
          </a:p>
          <a:p>
            <a:pPr algn="ctr">
              <a:lnSpc>
                <a:spcPts val="3104"/>
              </a:lnSpc>
            </a:pPr>
            <a:r>
              <a:rPr lang="en-US" sz="270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 assumption + outcome</a:t>
            </a:r>
          </a:p>
          <a:p>
            <a:pPr algn="ctr">
              <a:lnSpc>
                <a:spcPts val="3104"/>
              </a:lnSpc>
            </a:pPr>
            <a:r>
              <a:rPr lang="en-US" sz="270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 current condition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4500" y="7200900"/>
            <a:ext cx="5715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9EB0C7"/>
                </a:solidFill>
                <a:latin typeface="DM Sans"/>
                <a:ea typeface="DM Sans"/>
                <a:cs typeface="DM Sans"/>
                <a:sym typeface="DM Sans"/>
              </a:rPr>
              <a:t>Context must be rebuilt manually.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10875" y="7248525"/>
            <a:ext cx="57150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700" b="true">
                <a:solidFill>
                  <a:srgbClr val="49D7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Evidence-aware assessment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D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00050"/>
            <a:ext cx="14287500" cy="1733550"/>
            <a:chOff x="0" y="0"/>
            <a:chExt cx="19050000" cy="2311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25425"/>
              <a:ext cx="330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49D7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09 / LEARNING LOOP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46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Closing the memory loop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92300"/>
              <a:ext cx="19050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Today’s outcome becomes tomorrow’s evidence.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914400" cy="63500"/>
              <a:chOff x="0" y="0"/>
              <a:chExt cx="914400" cy="63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49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952500" y="4953000"/>
            <a:ext cx="2190750" cy="1047750"/>
            <a:chOff x="0" y="0"/>
            <a:chExt cx="2921000" cy="139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21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1297609"/>
                  </a:lnTo>
                  <a:cubicBezTo>
                    <a:pt x="2921000" y="1352501"/>
                    <a:pt x="2876501" y="1397000"/>
                    <a:pt x="2821609" y="1397000"/>
                  </a:cubicBezTo>
                  <a:lnTo>
                    <a:pt x="99391" y="1397000"/>
                  </a:lnTo>
                  <a:cubicBezTo>
                    <a:pt x="44499" y="1397000"/>
                    <a:pt x="0" y="1352501"/>
                    <a:pt x="0" y="1297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921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NEW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DECISION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2047875" y="3857625"/>
            <a:ext cx="2381250" cy="1619250"/>
          </a:xfrm>
          <a:prstGeom prst="line">
            <a:avLst/>
          </a:prstGeom>
          <a:ln cap="rnd" w="28575">
            <a:solidFill>
              <a:srgbClr val="2F7D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3333750" y="3333750"/>
            <a:ext cx="2190750" cy="1047750"/>
            <a:chOff x="0" y="0"/>
            <a:chExt cx="2921000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21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1297609"/>
                  </a:lnTo>
                  <a:cubicBezTo>
                    <a:pt x="2921000" y="1352501"/>
                    <a:pt x="2876501" y="1397000"/>
                    <a:pt x="2821609" y="1397000"/>
                  </a:cubicBezTo>
                  <a:lnTo>
                    <a:pt x="99391" y="1397000"/>
                  </a:lnTo>
                  <a:cubicBezTo>
                    <a:pt x="44499" y="1397000"/>
                    <a:pt x="0" y="1352501"/>
                    <a:pt x="0" y="1297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921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ANALYSIS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4429125" y="3381375"/>
            <a:ext cx="3048000" cy="476250"/>
          </a:xfrm>
          <a:prstGeom prst="line">
            <a:avLst/>
          </a:prstGeom>
          <a:ln cap="rnd" w="28575">
            <a:solidFill>
              <a:srgbClr val="2F7D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6381750" y="2857500"/>
            <a:ext cx="2190750" cy="1047750"/>
            <a:chOff x="0" y="0"/>
            <a:chExt cx="2921000" cy="139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1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1297609"/>
                  </a:lnTo>
                  <a:cubicBezTo>
                    <a:pt x="2921000" y="1352501"/>
                    <a:pt x="2876501" y="1397000"/>
                    <a:pt x="2821609" y="1397000"/>
                  </a:cubicBezTo>
                  <a:lnTo>
                    <a:pt x="99391" y="1397000"/>
                  </a:lnTo>
                  <a:cubicBezTo>
                    <a:pt x="44499" y="1397000"/>
                    <a:pt x="0" y="1352501"/>
                    <a:pt x="0" y="1297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921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DECISION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MADE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7477125" y="3381375"/>
            <a:ext cx="3238500" cy="476250"/>
          </a:xfrm>
          <a:prstGeom prst="line">
            <a:avLst/>
          </a:prstGeom>
          <a:ln cap="rnd" w="28575">
            <a:solidFill>
              <a:srgbClr val="2F7D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620250" y="3333750"/>
            <a:ext cx="2190750" cy="1047750"/>
            <a:chOff x="0" y="0"/>
            <a:chExt cx="2921000" cy="139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1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1297609"/>
                  </a:lnTo>
                  <a:cubicBezTo>
                    <a:pt x="2921000" y="1352501"/>
                    <a:pt x="2876501" y="1397000"/>
                    <a:pt x="2821609" y="1397000"/>
                  </a:cubicBezTo>
                  <a:lnTo>
                    <a:pt x="99391" y="1397000"/>
                  </a:lnTo>
                  <a:cubicBezTo>
                    <a:pt x="44499" y="1397000"/>
                    <a:pt x="0" y="1352501"/>
                    <a:pt x="0" y="1297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921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ACTUAL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OUTCOME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0715625" y="3857625"/>
            <a:ext cx="2857500" cy="1619250"/>
          </a:xfrm>
          <a:prstGeom prst="line">
            <a:avLst/>
          </a:prstGeom>
          <a:ln cap="rnd" w="28575">
            <a:solidFill>
              <a:srgbClr val="2F7D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2477750" y="4953000"/>
            <a:ext cx="2190750" cy="1047750"/>
            <a:chOff x="0" y="0"/>
            <a:chExt cx="2921000" cy="1397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1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1297609"/>
                  </a:lnTo>
                  <a:cubicBezTo>
                    <a:pt x="2921000" y="1352501"/>
                    <a:pt x="2876501" y="1397000"/>
                    <a:pt x="2821609" y="1397000"/>
                  </a:cubicBezTo>
                  <a:lnTo>
                    <a:pt x="99391" y="1397000"/>
                  </a:lnTo>
                  <a:cubicBezTo>
                    <a:pt x="44499" y="1397000"/>
                    <a:pt x="0" y="1352501"/>
                    <a:pt x="0" y="1297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921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FEEDBACK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flipH="true">
            <a:off x="10715625" y="5476875"/>
            <a:ext cx="2857500" cy="2000250"/>
          </a:xfrm>
          <a:prstGeom prst="line">
            <a:avLst/>
          </a:prstGeom>
          <a:ln cap="rnd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9620250" y="6953250"/>
            <a:ext cx="2190750" cy="1047750"/>
            <a:chOff x="0" y="0"/>
            <a:chExt cx="2921000" cy="1397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21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1297609"/>
                  </a:lnTo>
                  <a:cubicBezTo>
                    <a:pt x="2921000" y="1352501"/>
                    <a:pt x="2876501" y="1397000"/>
                    <a:pt x="2821609" y="1397000"/>
                  </a:cubicBezTo>
                  <a:lnTo>
                    <a:pt x="99391" y="1397000"/>
                  </a:lnTo>
                  <a:cubicBezTo>
                    <a:pt x="44499" y="1397000"/>
                    <a:pt x="0" y="1352501"/>
                    <a:pt x="0" y="1297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7476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921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HINDSIGHT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MEMORY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flipH="true">
            <a:off x="6238875" y="7477125"/>
            <a:ext cx="4476750" cy="0"/>
          </a:xfrm>
          <a:prstGeom prst="line">
            <a:avLst/>
          </a:prstGeom>
          <a:ln cap="rnd" w="28575">
            <a:solidFill>
              <a:srgbClr val="49D7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5143500" y="6953250"/>
            <a:ext cx="2190750" cy="1047750"/>
            <a:chOff x="0" y="0"/>
            <a:chExt cx="2921000" cy="1397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1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1297609"/>
                  </a:lnTo>
                  <a:cubicBezTo>
                    <a:pt x="2921000" y="1352501"/>
                    <a:pt x="2876501" y="1397000"/>
                    <a:pt x="2821609" y="1397000"/>
                  </a:cubicBezTo>
                  <a:lnTo>
                    <a:pt x="99391" y="1397000"/>
                  </a:lnTo>
                  <a:cubicBezTo>
                    <a:pt x="44499" y="1397000"/>
                    <a:pt x="0" y="1352501"/>
                    <a:pt x="0" y="1297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4243A"/>
            </a:solidFill>
            <a:ln w="9525" cap="sq">
              <a:solidFill>
                <a:srgbClr val="29415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921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FUTURE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5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DECISION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flipH="true" flipV="true">
            <a:off x="2047875" y="5476875"/>
            <a:ext cx="4191000" cy="2000250"/>
          </a:xfrm>
          <a:prstGeom prst="line">
            <a:avLst/>
          </a:prstGeom>
          <a:ln cap="rnd" w="28575">
            <a:solidFill>
              <a:srgbClr val="2F7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7239000" y="5114925"/>
            <a:ext cx="3810000" cy="81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7"/>
              </a:lnSpc>
            </a:pPr>
            <a:r>
              <a:rPr lang="en-US" sz="285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EXPERIENCE</a:t>
            </a:r>
          </a:p>
          <a:p>
            <a:pPr algn="ctr">
              <a:lnSpc>
                <a:spcPts val="3277"/>
              </a:lnSpc>
            </a:pPr>
            <a:r>
              <a:rPr lang="en-US" sz="285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COMPOUNDS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00050"/>
            <a:ext cx="14287500" cy="1259586"/>
            <a:chOff x="0" y="0"/>
            <a:chExt cx="19050000" cy="167944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25425"/>
              <a:ext cx="330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49D7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 / IMPACT + DEMO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27100"/>
              <a:ext cx="19050000" cy="752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3900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Preserve experience. Ground decisions. Keep learning.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914400" cy="63500"/>
              <a:chOff x="0" y="0"/>
              <a:chExt cx="914400" cy="63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49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990600" y="3048000"/>
            <a:ext cx="5067300" cy="4191000"/>
            <a:chOff x="0" y="0"/>
            <a:chExt cx="6756400" cy="5588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756400" cy="5588000"/>
              <a:chOff x="0" y="0"/>
              <a:chExt cx="6756400" cy="5588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756400" cy="5588000"/>
              </a:xfrm>
              <a:custGeom>
                <a:avLst/>
                <a:gdLst/>
                <a:ahLst/>
                <a:cxnLst/>
                <a:rect r="r" b="b" t="t" l="l"/>
                <a:pathLst>
                  <a:path h="5588000" w="6756400">
                    <a:moveTo>
                      <a:pt x="0" y="0"/>
                    </a:moveTo>
                    <a:lnTo>
                      <a:pt x="6756400" y="0"/>
                    </a:lnTo>
                    <a:lnTo>
                      <a:pt x="6756400" y="5588000"/>
                    </a:lnTo>
                    <a:lnTo>
                      <a:pt x="0" y="5588000"/>
                    </a:lnTo>
                    <a:close/>
                  </a:path>
                </a:pathLst>
              </a:custGeom>
              <a:solidFill>
                <a:srgbClr val="14243A"/>
              </a:solidFill>
              <a:ln w="9525" cap="sq">
                <a:solidFill>
                  <a:srgbClr val="29415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756400" cy="562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08000" y="606425"/>
              <a:ext cx="571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49D7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REAL-WORLD VALUE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08000" y="1479550"/>
              <a:ext cx="5715000" cy="458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0"/>
                </a:lnSpc>
              </a:pPr>
              <a:r>
                <a:rPr lang="en-US" sz="2400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Decision continuity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08000" y="2692400"/>
              <a:ext cx="5715000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Institutional knowledge preservation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Evidence grounding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Outcome feedback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10350" y="3048000"/>
            <a:ext cx="5067300" cy="4191000"/>
            <a:chOff x="0" y="0"/>
            <a:chExt cx="6756400" cy="5588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756400" cy="5588000"/>
              <a:chOff x="0" y="0"/>
              <a:chExt cx="6756400" cy="5588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756400" cy="5588000"/>
              </a:xfrm>
              <a:custGeom>
                <a:avLst/>
                <a:gdLst/>
                <a:ahLst/>
                <a:cxnLst/>
                <a:rect r="r" b="b" t="t" l="l"/>
                <a:pathLst>
                  <a:path h="5588000" w="6756400">
                    <a:moveTo>
                      <a:pt x="0" y="0"/>
                    </a:moveTo>
                    <a:lnTo>
                      <a:pt x="6756400" y="0"/>
                    </a:lnTo>
                    <a:lnTo>
                      <a:pt x="6756400" y="5588000"/>
                    </a:lnTo>
                    <a:lnTo>
                      <a:pt x="0" y="5588000"/>
                    </a:lnTo>
                    <a:close/>
                  </a:path>
                </a:pathLst>
              </a:custGeom>
              <a:solidFill>
                <a:srgbClr val="14243A"/>
              </a:solidFill>
              <a:ln w="9525" cap="sq">
                <a:solidFill>
                  <a:srgbClr val="29415F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756400" cy="562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08000" y="606425"/>
              <a:ext cx="571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49D7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FUTURE SCOPE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508000" y="1479550"/>
              <a:ext cx="5715000" cy="458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0"/>
                </a:lnSpc>
              </a:pPr>
              <a:r>
                <a:rPr lang="en-US" sz="2400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Connected governance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08000" y="2692400"/>
              <a:ext cx="5715000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Integrations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Governance controls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Organizational analytics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30100" y="3048000"/>
            <a:ext cx="5067300" cy="4191000"/>
            <a:chOff x="0" y="0"/>
            <a:chExt cx="6756400" cy="5588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6756400" cy="5588000"/>
              <a:chOff x="0" y="0"/>
              <a:chExt cx="6756400" cy="5588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756400" cy="5588000"/>
              </a:xfrm>
              <a:custGeom>
                <a:avLst/>
                <a:gdLst/>
                <a:ahLst/>
                <a:cxnLst/>
                <a:rect r="r" b="b" t="t" l="l"/>
                <a:pathLst>
                  <a:path h="5588000" w="6756400">
                    <a:moveTo>
                      <a:pt x="0" y="0"/>
                    </a:moveTo>
                    <a:lnTo>
                      <a:pt x="6756400" y="0"/>
                    </a:lnTo>
                    <a:lnTo>
                      <a:pt x="6756400" y="5588000"/>
                    </a:lnTo>
                    <a:lnTo>
                      <a:pt x="0" y="5588000"/>
                    </a:lnTo>
                    <a:close/>
                  </a:path>
                </a:pathLst>
              </a:custGeom>
              <a:solidFill>
                <a:srgbClr val="102B43"/>
              </a:solidFill>
              <a:ln w="9525" cap="sq">
                <a:solidFill>
                  <a:srgbClr val="49D7E8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6756400" cy="562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508000" y="606425"/>
              <a:ext cx="571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49D7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DEMO JOURNEY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08000" y="1470025"/>
              <a:ext cx="5715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3"/>
                </a:lnSpc>
              </a:pPr>
              <a:r>
                <a:rPr lang="en-US" sz="2325" b="true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From question to evidence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508000" y="2692400"/>
              <a:ext cx="5715000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Enter decision + current conditions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Retrieve relevant memory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9EB0C7"/>
                  </a:solidFill>
                  <a:latin typeface="DM Sans"/>
                  <a:ea typeface="DM Sans"/>
                  <a:cs typeface="DM Sans"/>
                  <a:sym typeface="DM Sans"/>
                </a:rPr>
                <a:t>Review assessment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29000" y="7858125"/>
            <a:ext cx="11430000" cy="1238250"/>
            <a:chOff x="0" y="0"/>
            <a:chExt cx="1524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5240000">
                  <a:moveTo>
                    <a:pt x="16933" y="0"/>
                  </a:moveTo>
                  <a:lnTo>
                    <a:pt x="15223066" y="0"/>
                  </a:lnTo>
                  <a:cubicBezTo>
                    <a:pt x="15227557" y="0"/>
                    <a:pt x="15231864" y="1784"/>
                    <a:pt x="15235041" y="4960"/>
                  </a:cubicBezTo>
                  <a:cubicBezTo>
                    <a:pt x="15238216" y="8135"/>
                    <a:pt x="15240000" y="12442"/>
                    <a:pt x="15240000" y="16933"/>
                  </a:cubicBezTo>
                  <a:lnTo>
                    <a:pt x="15240000" y="1634067"/>
                  </a:lnTo>
                  <a:cubicBezTo>
                    <a:pt x="15240000" y="1638558"/>
                    <a:pt x="15238216" y="1642865"/>
                    <a:pt x="15235041" y="1646040"/>
                  </a:cubicBezTo>
                  <a:cubicBezTo>
                    <a:pt x="15231864" y="1649216"/>
                    <a:pt x="15227557" y="1651000"/>
                    <a:pt x="15223066" y="1651000"/>
                  </a:cubicBezTo>
                  <a:lnTo>
                    <a:pt x="16933" y="1651000"/>
                  </a:lnTo>
                  <a:cubicBezTo>
                    <a:pt x="12442" y="1651000"/>
                    <a:pt x="8135" y="1649216"/>
                    <a:pt x="4960" y="1646040"/>
                  </a:cubicBezTo>
                  <a:cubicBezTo>
                    <a:pt x="1784" y="1642865"/>
                    <a:pt x="0" y="1638558"/>
                    <a:pt x="0" y="1634067"/>
                  </a:cubicBezTo>
                  <a:lnTo>
                    <a:pt x="0" y="16933"/>
                  </a:lnTo>
                  <a:cubicBezTo>
                    <a:pt x="0" y="12442"/>
                    <a:pt x="1784" y="8135"/>
                    <a:pt x="4960" y="4960"/>
                  </a:cubicBezTo>
                  <a:cubicBezTo>
                    <a:pt x="8135" y="1784"/>
                    <a:pt x="12442" y="0"/>
                    <a:pt x="16933" y="0"/>
                  </a:cubicBezTo>
                  <a:close/>
                </a:path>
              </a:pathLst>
            </a:custGeom>
            <a:solidFill>
              <a:srgbClr val="101C2D"/>
            </a:solidFill>
            <a:ln w="19050" cap="sq">
              <a:solidFill>
                <a:srgbClr val="29415F"/>
              </a:solidFill>
              <a:prstDash val="lgDash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240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9EB0C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PLACEHOLDER — FINAL VERIFIED DEMO SCREENSHOTS / RESULTS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D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11250" y="0"/>
            <a:ext cx="4476750" cy="10287000"/>
            <a:chOff x="0" y="0"/>
            <a:chExt cx="5969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69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2F7DF6">
                    <a:alpha val="40000"/>
                  </a:srgbClr>
                </a:gs>
                <a:gs pos="100000">
                  <a:srgbClr val="0D1726">
                    <a:alpha val="0"/>
                  </a:srgbClr>
                </a:gs>
              </a:gsLst>
              <a:path path="circle">
                <a:fillToRect l="100000" r="0" t="50000" b="50000"/>
              </a:path>
              <a:tileRect r="-100000" l="0" b="0" t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69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1009650"/>
            <a:ext cx="857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49D7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ASSUMPTION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2571750"/>
            <a:ext cx="13811250" cy="225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1"/>
              </a:lnSpc>
            </a:pPr>
            <a:r>
              <a:rPr lang="en-US" sz="570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Remember the decision.</a:t>
            </a:r>
          </a:p>
          <a:p>
            <a:pPr algn="l">
              <a:lnSpc>
                <a:spcPts val="5871"/>
              </a:lnSpc>
            </a:pPr>
            <a:r>
              <a:rPr lang="en-US" sz="570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Remember the assumption.</a:t>
            </a:r>
          </a:p>
          <a:p>
            <a:pPr algn="l">
              <a:lnSpc>
                <a:spcPts val="5871"/>
              </a:lnSpc>
            </a:pPr>
            <a:r>
              <a:rPr lang="en-US" sz="5700" b="true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Learn from the outcome.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6543675"/>
            <a:ext cx="11430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3000" b="true">
                <a:solidFill>
                  <a:srgbClr val="49D7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 organizational memory before deciding again.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9020175"/>
            <a:ext cx="15240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9EB0C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TEAM  [PLACEHOLDER]     REPOSITORY  [PLACEHOLDER]     DEMO  [PLACEHOLDER]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DAHWll138BE</dc:identifier>
  <dcterms:modified xsi:type="dcterms:W3CDTF">2011-08-01T06:04:30Z</dcterms:modified>
  <cp:revision>1</cp:revision>
  <dc:title>ASSUMPTION Pitch</dc:title>
</cp:coreProperties>
</file>